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Times New Roman"/>
              </a:rPr>
              <a:t>Observability Architecture in
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44444"/>
                </a:solidFill>
                <a:latin typeface="Times New Roman"/>
              </a:rPr>
              <a:t>Prometheus · Time-Series Databases · OpenTelemetry · Distributed Tracing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8892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Times New Roman"/>
              </a:rPr>
              <a:t>Aman Githala (24293916037)          Ravi Kumar (24293916042)
Chandan Chaurasia (24293916019)          Ramkrishan Jangir (24293916033)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6908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Times New Roman"/>
              </a:rPr>
              <a:t>Presented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Times New Roman"/>
              </a:rPr>
              <a:t>Asst. Prof. Bhawna Rawat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Times New Roman"/>
              </a:rPr>
              <a:t>April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01  |  Introduction to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Observability is the ability to infer the internal state of a system solely from its external outputs.
In distributed architectures — where failures are partial, latency is non-deterministic, and state is
spread across hundreds of services — observability is not optional; it is foundational [1].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</a:rPr>
              <a:t>The Three Pillars of Observability [2]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3566160" cy="3246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</a:rPr>
              <a:t>Numerical time-series measurements
(CPU%, request rate, error rate, latency).
Efficient to store and alert on at scale.
Foundation of Prometheus &amp; TSDB.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14600"/>
            <a:ext cx="3566160" cy="3246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63240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</a:rPr>
              <a:t>Discrete structured or semi-structured
events emitted by services at runtime.
Rich context; expensive at high volume.
Fluentd / Loki / Elasticsearch stack.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14600"/>
            <a:ext cx="3566160" cy="3246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TRACES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</a:rPr>
              <a:t>End-to-end request journeys across services
via context propagation (Trace-ID / Span-ID).
Critical for latency &amp; dependency debugging.
Jaeger / Zipkin / OTel Tracing.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02  |  OpenTelemetry (OTel)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OpenTelemetry is a CNCF project providing a vendor-neutral SDK, API, and Collector for
generating, collecting, and exporting telemetry data [3]. It supersedes OpenTracing and
OpenCensus and is now the de facto standard across the industry.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256032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Application
+ OTel SDK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2560320" cy="1234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Instrumentation
Auto &amp;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56032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OTel
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743200"/>
            <a:ext cx="2560320" cy="1234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278892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Receive→Process
→Export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74519"/>
            <a:ext cx="256032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Backends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743200"/>
            <a:ext cx="2560320" cy="1234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78892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Prometheus
Jaeger / Loki
Tempo / Datadog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874519"/>
            <a:ext cx="256032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Dashboards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743200"/>
            <a:ext cx="2560320" cy="1234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78892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Grafana
Kibana / Custom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Key OTel Components [3]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35424"/>
            <a:ext cx="25603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5811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OTel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35808" y="4535424"/>
            <a:ext cx="8686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7248" y="4581144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Language-specific interfaces for instrumentation (Go, Java, Python, JS, .NET)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560320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OTel SDK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4937760"/>
            <a:ext cx="8686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49834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In-process implementation of the API; configurable sampler &amp; exporter chain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40096"/>
            <a:ext cx="25603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3858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OTel Collector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35808" y="5340096"/>
            <a:ext cx="8686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27248" y="5385816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Agent/gateway pipeline: OTLP receiver, batch processor, Jaeger/Prom exporter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742432"/>
            <a:ext cx="2560320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578815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OTLP Protocol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35808" y="5742432"/>
            <a:ext cx="8686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7248" y="578815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gRPC / HTTP+JSON transport; the wire format for all OTel telemetry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03  |  Prometheus &amp; Time-Series Database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Prometheus is a pull-based monitoring system originally built at SoundCloud (2012) and later
donated to CNCF [4]. It scrapes /metrics HTTP endpoints at configured intervals and stores
samples in a local TSDB using Gorilla XOR-delta compression (~1.37 bytes/sample) [5].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8528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19202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Targets
(/metrics)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4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057400"/>
            <a:ext cx="19202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2103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Prometheus
Scraper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057400"/>
            <a:ext cx="19202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103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TSDB
(Blocks)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057400"/>
            <a:ext cx="19202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103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PromQL
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057400"/>
            <a:ext cx="19202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103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Grafana
/ Alerting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99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TSDB Internals [5]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01568"/>
            <a:ext cx="301752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56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WAL (Write-Ahead Log)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3401568"/>
            <a:ext cx="8229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345643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Durability layer; enables crash recovery without sample loss.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30175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86783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Chunks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1296" y="3931920"/>
            <a:ext cx="8229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3986783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Compressed time-series segments; default 120 samples / chunk.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62272"/>
            <a:ext cx="301752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171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Index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4462272"/>
            <a:ext cx="8229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451713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Inverted index over label sets; enables sub-millisecond label matching.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92624"/>
            <a:ext cx="30175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47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Compaction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1296" y="4992624"/>
            <a:ext cx="8229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2736" y="504748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Background merge of 2-hour blocks; enforces configurable retention.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522976"/>
            <a:ext cx="301752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77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</a:rPr>
              <a:t>Remote Write/Read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11296" y="5522976"/>
            <a:ext cx="8229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2736" y="5577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Pluggable long-term backends: Thanos, Cortex, Mimir, VictoriaMetrics.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04  |  Distributed Tracing: Concepts &amp;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Distributed tracing propagates a unique Trace-ID across service boundaries so every sub-operation
(Span) can be correlated into a single end-to-end timeline [6]. Google Dapper (2010) pioneered
the concept [7]. Jaeger (Uber / CNCF) and the OTel Trace SDK dominate the modern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Anatomy of a Span [6]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05456"/>
            <a:ext cx="548640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511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Trace ID       — 128-bit global unique identifier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53512"/>
            <a:ext cx="5486400" cy="4023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Span ID        — identifies this specific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48640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472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Parent Span ID — links to the calling span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9624"/>
            <a:ext cx="5486400" cy="4023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953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Operation Name — e.g., HTTP GET /api/orders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548640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4340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Start / End TS — wall-clock timestamps (nanosec precision)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45736"/>
            <a:ext cx="5486400" cy="4023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914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Tags &amp; Logs    — key-value metadata &amp; structured 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93792"/>
            <a:ext cx="548640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2395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Status Code    — OK / ERROR + error description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Tool Comparison [3][6]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505456"/>
            <a:ext cx="1554480" cy="8412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5603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Jaeger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2505456"/>
            <a:ext cx="3749039" cy="8412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2560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CNCF / Uber; Cassandra or
Elasticsearch backend;
enterprise-grade.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438144"/>
            <a:ext cx="1554480" cy="8412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493008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Zipkin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3438144"/>
            <a:ext cx="3749039" cy="8412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349300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Twitter origin; simple UI;
MySQL / Cassandra storage;
lightweight.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370832"/>
            <a:ext cx="1554480" cy="8412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425696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OTel SDK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3296" y="4370832"/>
            <a:ext cx="3749039" cy="8412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4425696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Vendor-neutral; emit to any
backend; becoming the
de facto standard.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5303520"/>
            <a:ext cx="1554480" cy="8412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358384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Grafana
Tempo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5303520"/>
            <a:ext cx="3749039" cy="8412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74736" y="5358384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Times New Roman"/>
              </a:rPr>
              <a:t>Object storage (S3);
native Grafana integration
with Prom &amp; Loki.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05  |  Unified Observability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A production-grade observability stack unifies all three pillars. The OTel Collector acts as the universal routing layer [3][8].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7432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55064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INSTRUMENTATION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600200"/>
            <a:ext cx="8641080" cy="804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655064"/>
            <a:ext cx="8458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imes New Roman"/>
              </a:rPr>
              <a:t>Application Services  •  OTel SDKs (Go / Java / Python / JS / .NET)
Auto-instrumentation agents  •  Custom span and metric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231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Times New Roman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27432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9464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COLLECTION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514600"/>
            <a:ext cx="8641080" cy="80467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2569464"/>
            <a:ext cx="8458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imes New Roman"/>
              </a:rPr>
              <a:t>OTel Collector (Agent per node + central Gateway cluster)
Receives OTLP / Prometheus scrape / FluentBit log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375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Times New Roman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27432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83864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3429000"/>
            <a:ext cx="8641080" cy="804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3483864"/>
            <a:ext cx="8458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imes New Roman"/>
              </a:rPr>
              <a:t>Batch processor  •  Attribute filter  •  Probabilistic sampler
Tail-based sampling — process complete traces before retention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519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Times New Roman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27432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98264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STORAGE / 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343400"/>
            <a:ext cx="8641080" cy="80467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398264"/>
            <a:ext cx="8458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imes New Roman"/>
              </a:rPr>
              <a:t>Metrics: Prometheus TSDB / Grafana Mimir / VictoriaMetrics
Traces: Jaeger / Grafana Tempo     Logs: Loki / Elasticsearch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66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Times New Roman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57800"/>
            <a:ext cx="27432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12664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PRESENTATION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5257800"/>
            <a:ext cx="8641080" cy="804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5312664"/>
            <a:ext cx="8458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imes New Roman"/>
              </a:rPr>
              <a:t>Grafana Dashboards  •  Alertmanager  •  SLO / Error-budget reporting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06  |  Tool Comparison &amp; Industry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87782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Pillar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8778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8778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87782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87782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Notable Adopters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61872"/>
            <a:ext cx="192024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3502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Prometheus [4]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261872"/>
            <a:ext cx="118872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133502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261872"/>
            <a:ext cx="18288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33502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Local TSDB / Mimir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261872"/>
            <a:ext cx="18288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33502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HTTP scrape / OTLP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261872"/>
            <a:ext cx="118872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33502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Apache 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261872"/>
            <a:ext cx="283464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3350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Google, AWS, Red 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93391"/>
            <a:ext cx="192024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066543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Jaeger [6]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1993391"/>
            <a:ext cx="118872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2066543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993391"/>
            <a:ext cx="182880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2066543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Cassandra / 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1993391"/>
            <a:ext cx="182880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2066543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OpenTracing / OTLP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1993391"/>
            <a:ext cx="118872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066543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Apache 2.0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1993391"/>
            <a:ext cx="283464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066543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Uber, Netflix, Red Hat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724912"/>
            <a:ext cx="192024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79806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OTel Collector [3]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2724912"/>
            <a:ext cx="118872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279806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All three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2724912"/>
            <a:ext cx="18288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80" y="279806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None (routing only)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2724912"/>
            <a:ext cx="18288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279806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OTLP (gRPC/HTTP)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2724912"/>
            <a:ext cx="118872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279806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Apache 2.0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2724912"/>
            <a:ext cx="283464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279806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All major cloud vendors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456432"/>
            <a:ext cx="192024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52958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Grafana Tempo [8]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3456432"/>
            <a:ext cx="118872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352958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Traces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3456432"/>
            <a:ext cx="182880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80" y="352958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Object store (S3/GCS)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3456432"/>
            <a:ext cx="182880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0680" y="352958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OTLP / Jaeger / Zipkin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3760" y="3456432"/>
            <a:ext cx="118872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9480" y="352958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AGPL 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3456432"/>
            <a:ext cx="283464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352958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Grafana Labs, Shopify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87952"/>
            <a:ext cx="192024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26110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Loki [8]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4187952"/>
            <a:ext cx="118872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23160" y="426110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Logs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4187952"/>
            <a:ext cx="18288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11880" y="426110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Object storage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94960" y="4187952"/>
            <a:ext cx="18288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40680" y="426110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HTTP / FluentBit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23760" y="4187952"/>
            <a:ext cx="118872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69480" y="426110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AGPL 3.0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4187952"/>
            <a:ext cx="283464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58200" y="426110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Grafana Labs, DoorDash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919472"/>
            <a:ext cx="192024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499262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VictoriaMetrics [9]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77440" y="4919472"/>
            <a:ext cx="118872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23160" y="499262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Metrics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4919472"/>
            <a:ext cx="182880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11880" y="499262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Custom TSDB (TSM)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94960" y="4919472"/>
            <a:ext cx="182880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40680" y="499262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Prometheus compat.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23760" y="4919472"/>
            <a:ext cx="118872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69480" y="4992624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Apache 2.0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0" y="4919472"/>
            <a:ext cx="2834640" cy="6766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58200" y="49926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Times New Roman"/>
              </a:rPr>
              <a:t>Adidas, Wix, Zerodha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59436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  <a:latin typeface="Times New Roman"/>
              </a:rPr>
              <a:t>Note: CNCF Annual Survey (2023) reports Prometheus is deployed in 87% of Kubernetes clusters [10].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07  |  Conclusion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5303520" cy="2423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96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imes New Roman"/>
              </a:rPr>
              <a:t>  Observability is non-negotiable in distributed systems.
  OpenTelemetry is the de facto standard for vendor-neutral
  telemetry instrumentation across all languages.
  Prometheus TSDB delivers proven, efficient metric storage
  at scale with a rich query language (PromQL).
  Distributed tracing (Jaeger / Tempo) is critical for
  latency debugging across service boundaries.
  Unified pipelines (OTel + Prom + Jaeger + Grafana) reduce
  operational complexity and improve MTTR.
  ML-driven anomaly detection is the next frontier [1][8].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841248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References [IEEE Format]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261872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[1] B. H. Sigelman et al., "Dapper, a Large-Scale Distributed Systems Tracing Infrastructure," Google Technical Report, 2010.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55648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[2] C. Sridharan, Distributed Systems Observability. O'Reilly Media, 2018.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49424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[3] OpenTelemetry Authors, "OpenTelemetry Specification v1.30," CNCF, 2024. [Online]. Available: https://opentelemetry.io/docs/specs/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743200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[4] J. Rabenstein and B. Kochanski, Prometheus: Up and Running, 2nd ed. O'Reilly Media, 2023.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36976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[5] Prometheus Authors, "TSDB Format," GitHub, 2024. [Online]. Available: https://github.com/prometheus/prometheus/blob/main/tsdb/docs/format/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730752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[6] Jaeger Authors, "Jaeger: Open Source Distributed Tracing," CNCF, 2024. [Online]. Available: https://www.jaegertracing.io/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224528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[7] B. H. Sigelman et al., "Dapper," Google, Inc., Tech. Rep., Apr. 2010.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718304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[8] Grafana Labs, "Grafana Tempo Documentation," 2024. [Online]. Available: https://grafana.com/docs/tempo/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212080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[9] VictoriaMetrics Authors, "VictoriaMetrics Docs," 2024. [Online]. Available: https://docs.victoriametrics.com/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5705856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Times New Roman"/>
              </a:rPr>
              <a:t>[10] CNCF, "CNCF Annual Survey 2023," Cloud Native Computing Foundation, 2024.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74552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Times New Roman"/>
              </a:rPr>
              <a:t>Observability Architecture in Distributed Systems — IEEE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Times New Roman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